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Inter Light"/>
      <p:regular r:id="rId11"/>
      <p:bold r:id="rId12"/>
      <p:italic r:id="rId13"/>
      <p:boldItalic r:id="rId14"/>
    </p:embeddedFon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InterMedium-boldItalic.fntdata"/><Relationship Id="rId11" Type="http://schemas.openxmlformats.org/officeDocument/2006/relationships/font" Target="fonts/InterLight-regular.fntdata"/><Relationship Id="rId10" Type="http://schemas.openxmlformats.org/officeDocument/2006/relationships/slide" Target="slides/slide5.xml"/><Relationship Id="rId13" Type="http://schemas.openxmlformats.org/officeDocument/2006/relationships/font" Target="fonts/InterLight-italic.fntdata"/><Relationship Id="rId12" Type="http://schemas.openxmlformats.org/officeDocument/2006/relationships/font" Target="fonts/InterLight-bold.fntdata"/><Relationship Id="rId15" Type="http://schemas.openxmlformats.org/officeDocument/2006/relationships/font" Target="fonts/InterSemiBold-regular.fntdata"/><Relationship Id="rId14" Type="http://schemas.openxmlformats.org/officeDocument/2006/relationships/font" Target="fonts/InterLight-boldItalic.fntdata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jpg"/><Relationship Id="rId10" Type="http://schemas.openxmlformats.org/officeDocument/2006/relationships/image" Target="../media/image10.jpg"/><Relationship Id="rId13" Type="http://schemas.openxmlformats.org/officeDocument/2006/relationships/image" Target="../media/image11.jpg"/><Relationship Id="rId1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5" Type="http://schemas.openxmlformats.org/officeDocument/2006/relationships/image" Target="../media/image12.jpg"/><Relationship Id="rId14" Type="http://schemas.openxmlformats.org/officeDocument/2006/relationships/image" Target="../media/image13.jpg"/><Relationship Id="rId16" Type="http://schemas.openxmlformats.org/officeDocument/2006/relationships/image" Target="../media/image15.jp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5" Type="http://schemas.openxmlformats.org/officeDocument/2006/relationships/image" Target="../media/image35.png"/><Relationship Id="rId14" Type="http://schemas.openxmlformats.org/officeDocument/2006/relationships/image" Target="../media/image3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Relationship Id="rId4" Type="http://schemas.openxmlformats.org/officeDocument/2006/relationships/image" Target="../media/image37.jpg"/><Relationship Id="rId5" Type="http://schemas.openxmlformats.org/officeDocument/2006/relationships/image" Target="../media/image3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6748622" y="207708"/>
            <a:ext cx="10456536" cy="10079292"/>
          </a:xfrm>
          <a:custGeom>
            <a:rect b="b" l="l" r="r" t="t"/>
            <a:pathLst>
              <a:path extrusionOk="0" h="10079292" w="10456536">
                <a:moveTo>
                  <a:pt x="0" y="0"/>
                </a:moveTo>
                <a:lnTo>
                  <a:pt x="10456536" y="0"/>
                </a:lnTo>
                <a:lnTo>
                  <a:pt x="10456536" y="10079292"/>
                </a:lnTo>
                <a:lnTo>
                  <a:pt x="0" y="10079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>
            <a:off x="14142574" y="1071335"/>
            <a:ext cx="448450" cy="644987"/>
          </a:xfrm>
          <a:custGeom>
            <a:rect b="b" l="l" r="r" t="t"/>
            <a:pathLst>
              <a:path extrusionOk="0"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10883110" y="2995365"/>
            <a:ext cx="4801694" cy="3651284"/>
          </a:xfrm>
          <a:custGeom>
            <a:rect b="b" l="l" r="r" t="t"/>
            <a:pathLst>
              <a:path extrusionOk="0" h="3651284" w="4801694">
                <a:moveTo>
                  <a:pt x="0" y="0"/>
                </a:moveTo>
                <a:lnTo>
                  <a:pt x="4801694" y="0"/>
                </a:lnTo>
                <a:lnTo>
                  <a:pt x="4801694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11747196" y="3421712"/>
            <a:ext cx="448450" cy="437279"/>
          </a:xfrm>
          <a:custGeom>
            <a:rect b="b" l="l" r="r" t="t"/>
            <a:pathLst>
              <a:path extrusionOk="0"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12840976" y="8570678"/>
            <a:ext cx="875024" cy="863627"/>
          </a:xfrm>
          <a:custGeom>
            <a:rect b="b" l="l" r="r" t="t"/>
            <a:pathLst>
              <a:path extrusionOk="0"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>
            <a:off x="15455110" y="634055"/>
            <a:ext cx="1093780" cy="448211"/>
          </a:xfrm>
          <a:custGeom>
            <a:rect b="b" l="l" r="r" t="t"/>
            <a:pathLst>
              <a:path extrusionOk="0" h="448211" w="1093780">
                <a:moveTo>
                  <a:pt x="0" y="0"/>
                </a:moveTo>
                <a:lnTo>
                  <a:pt x="1093780" y="0"/>
                </a:lnTo>
                <a:lnTo>
                  <a:pt x="109378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 txBox="1"/>
          <p:nvPr/>
        </p:nvSpPr>
        <p:spPr>
          <a:xfrm rot="342722">
            <a:off x="12780770" y="2544557"/>
            <a:ext cx="2384238" cy="339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9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15"/>
              <a:buFont typeface="Inter Light"/>
              <a:buNone/>
            </a:pPr>
            <a:r>
              <a:rPr b="0" i="1" lang="en-US" sz="2115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Vendredi 28 février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0" y="4087091"/>
            <a:ext cx="182880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810350" y="0"/>
            <a:ext cx="2936273" cy="365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335325" y="3999947"/>
            <a:ext cx="3333350" cy="2494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48625" y="4762388"/>
            <a:ext cx="4049450" cy="303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>
            <a:off x="8146200" y="1082275"/>
            <a:ext cx="4049450" cy="556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flipH="1" rot="10800000">
            <a:off x="4572008" y="4087102"/>
            <a:ext cx="4801700" cy="5035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06047" y="5671975"/>
            <a:ext cx="4801700" cy="36512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0" y="25064"/>
            <a:ext cx="8146200" cy="16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 Problème</a:t>
            </a:r>
            <a:endParaRPr b="0" i="0" sz="9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824238" y="2625891"/>
            <a:ext cx="4305300" cy="503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0" y="1111125"/>
            <a:ext cx="6748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 si le dernier clic était celui de trop ?</a:t>
            </a:r>
            <a:endParaRPr b="0" i="0" sz="6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4"/>
          <p:cNvSpPr/>
          <p:nvPr/>
        </p:nvSpPr>
        <p:spPr>
          <a:xfrm>
            <a:off x="15673866" y="852695"/>
            <a:ext cx="2406316" cy="2798589"/>
          </a:xfrm>
          <a:custGeom>
            <a:rect b="b" l="l" r="r" t="t"/>
            <a:pathLst>
              <a:path extrusionOk="0" h="2798589" w="2406316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>
            <a:off x="16100440" y="4066699"/>
            <a:ext cx="1979742" cy="1727254"/>
          </a:xfrm>
          <a:custGeom>
            <a:rect b="b" l="l" r="r" t="t"/>
            <a:pathLst>
              <a:path extrusionOk="0" h="1727254" w="1979742">
                <a:moveTo>
                  <a:pt x="0" y="0"/>
                </a:moveTo>
                <a:lnTo>
                  <a:pt x="1979742" y="0"/>
                </a:lnTo>
                <a:lnTo>
                  <a:pt x="197974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15236354" y="5783021"/>
            <a:ext cx="2843828" cy="1727254"/>
          </a:xfrm>
          <a:custGeom>
            <a:rect b="b" l="l" r="r" t="t"/>
            <a:pathLst>
              <a:path extrusionOk="0" h="1727254" w="2843828">
                <a:moveTo>
                  <a:pt x="0" y="0"/>
                </a:moveTo>
                <a:lnTo>
                  <a:pt x="2843828" y="0"/>
                </a:lnTo>
                <a:lnTo>
                  <a:pt x="2843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/>
          <p:nvPr/>
        </p:nvSpPr>
        <p:spPr>
          <a:xfrm>
            <a:off x="3259464" y="7925691"/>
            <a:ext cx="3281340" cy="1934962"/>
          </a:xfrm>
          <a:custGeom>
            <a:rect b="b" l="l" r="r" t="t"/>
            <a:pathLst>
              <a:path extrusionOk="0" h="1934962" w="3281340">
                <a:moveTo>
                  <a:pt x="0" y="0"/>
                </a:moveTo>
                <a:lnTo>
                  <a:pt x="3281340" y="0"/>
                </a:lnTo>
                <a:lnTo>
                  <a:pt x="328134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4"/>
          <p:cNvSpPr/>
          <p:nvPr/>
        </p:nvSpPr>
        <p:spPr>
          <a:xfrm>
            <a:off x="9351818" y="1071335"/>
            <a:ext cx="7197072" cy="6438940"/>
          </a:xfrm>
          <a:custGeom>
            <a:rect b="b" l="l" r="r" t="t"/>
            <a:pathLst>
              <a:path extrusionOk="0" h="6438940" w="7197072">
                <a:moveTo>
                  <a:pt x="0" y="0"/>
                </a:moveTo>
                <a:lnTo>
                  <a:pt x="7197072" y="0"/>
                </a:lnTo>
                <a:lnTo>
                  <a:pt x="7197072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 txBox="1"/>
          <p:nvPr/>
        </p:nvSpPr>
        <p:spPr>
          <a:xfrm>
            <a:off x="1001099" y="2077096"/>
            <a:ext cx="1688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4733"/>
              <a:buFont typeface="Inter"/>
              <a:buNone/>
            </a:pPr>
            <a:r>
              <a:rPr b="0" i="0" lang="en-US" sz="4733" u="none" cap="none" strike="noStrike">
                <a:solidFill>
                  <a:srgbClr val="F9F9F9"/>
                </a:solidFill>
                <a:latin typeface="Inter"/>
                <a:ea typeface="Inter"/>
                <a:cs typeface="Inter"/>
                <a:sym typeface="Inter"/>
              </a:rPr>
              <a:t>VOICI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950709" y="2717942"/>
            <a:ext cx="67275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9600"/>
              <a:buFont typeface="Montserrat"/>
              <a:buNone/>
            </a:pPr>
            <a:r>
              <a:rPr b="1" i="0" lang="en-US" sz="9600" u="none" cap="none" strike="noStrike">
                <a:solidFill>
                  <a:srgbClr val="F9F9F9"/>
                </a:solidFill>
                <a:latin typeface="Montserrat"/>
                <a:ea typeface="Montserrat"/>
                <a:cs typeface="Montserrat"/>
                <a:sym typeface="Montserrat"/>
              </a:rPr>
              <a:t>Sahel</a:t>
            </a:r>
            <a:r>
              <a:rPr b="1" i="0" lang="en-US" sz="9600" u="none" cap="none" strike="noStrike">
                <a:solidFill>
                  <a:srgbClr val="57A818"/>
                </a:solidFill>
                <a:latin typeface="Montserrat"/>
                <a:ea typeface="Montserrat"/>
                <a:cs typeface="Montserrat"/>
                <a:sym typeface="Montserrat"/>
              </a:rPr>
              <a:t>Sec</a:t>
            </a:r>
            <a:endParaRPr b="1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864086" y="4285339"/>
            <a:ext cx="885962" cy="218640"/>
          </a:xfrm>
          <a:custGeom>
            <a:rect b="b" l="l" r="r" t="t"/>
            <a:pathLst>
              <a:path extrusionOk="0" h="218640" w="885962">
                <a:moveTo>
                  <a:pt x="0" y="0"/>
                </a:moveTo>
                <a:lnTo>
                  <a:pt x="885962" y="0"/>
                </a:lnTo>
                <a:lnTo>
                  <a:pt x="88596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1676374" y="4288294"/>
            <a:ext cx="57594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A818"/>
              </a:buClr>
              <a:buSzPts val="3600"/>
              <a:buFont typeface="Inter SemiBold"/>
              <a:buNone/>
            </a:pPr>
            <a:r>
              <a:rPr b="1" i="0" lang="en-US" sz="3600" u="none" cap="none" strike="noStrike">
                <a:solidFill>
                  <a:srgbClr val="57A81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sécurité numérique à la portée de tous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7393952" y="4285339"/>
            <a:ext cx="885962" cy="218640"/>
          </a:xfrm>
          <a:custGeom>
            <a:rect b="b" l="l" r="r" t="t"/>
            <a:pathLst>
              <a:path extrusionOk="0" h="218640" w="885962">
                <a:moveTo>
                  <a:pt x="0" y="0"/>
                </a:moveTo>
                <a:lnTo>
                  <a:pt x="885962" y="0"/>
                </a:lnTo>
                <a:lnTo>
                  <a:pt x="88596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9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5"/>
          <p:cNvSpPr/>
          <p:nvPr/>
        </p:nvSpPr>
        <p:spPr>
          <a:xfrm>
            <a:off x="645330" y="4066699"/>
            <a:ext cx="3281340" cy="4514911"/>
          </a:xfrm>
          <a:custGeom>
            <a:rect b="b" l="l" r="r" t="t"/>
            <a:pathLst>
              <a:path extrusionOk="0" h="4514911" w="3281340">
                <a:moveTo>
                  <a:pt x="0" y="0"/>
                </a:moveTo>
                <a:lnTo>
                  <a:pt x="3281340" y="0"/>
                </a:lnTo>
                <a:lnTo>
                  <a:pt x="3281340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5"/>
          <p:cNvSpPr/>
          <p:nvPr/>
        </p:nvSpPr>
        <p:spPr>
          <a:xfrm>
            <a:off x="1520354" y="4493047"/>
            <a:ext cx="1531292" cy="1508614"/>
          </a:xfrm>
          <a:custGeom>
            <a:rect b="b" l="l" r="r" t="t"/>
            <a:pathLst>
              <a:path extrusionOk="0" h="1508614" w="1531292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5"/>
          <p:cNvSpPr txBox="1"/>
          <p:nvPr/>
        </p:nvSpPr>
        <p:spPr>
          <a:xfrm>
            <a:off x="1268163" y="6426642"/>
            <a:ext cx="186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DÉTECTER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1739110" y="6854356"/>
            <a:ext cx="1093780" cy="437279"/>
          </a:xfrm>
          <a:custGeom>
            <a:rect b="b" l="l" r="r" t="t"/>
            <a:pathLst>
              <a:path extrusionOk="0"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15"/>
          <p:cNvSpPr txBox="1"/>
          <p:nvPr/>
        </p:nvSpPr>
        <p:spPr>
          <a:xfrm>
            <a:off x="1203944" y="7329123"/>
            <a:ext cx="1990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88"/>
              <a:buFont typeface="Inter"/>
              <a:buNone/>
            </a:pPr>
            <a:r>
              <a:rPr b="0" i="0" lang="en-US" sz="2088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repérer les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88"/>
              <a:buFont typeface="Inter"/>
              <a:buNone/>
            </a:pPr>
            <a:r>
              <a:rPr b="0" i="0" lang="en-US" sz="2088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indices suspects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915732" y="4066699"/>
            <a:ext cx="3270402" cy="4514911"/>
          </a:xfrm>
          <a:custGeom>
            <a:rect b="b" l="l" r="r" t="t"/>
            <a:pathLst>
              <a:path extrusionOk="0" h="4514911" w="3270402">
                <a:moveTo>
                  <a:pt x="0" y="0"/>
                </a:moveTo>
                <a:lnTo>
                  <a:pt x="3270402" y="0"/>
                </a:lnTo>
                <a:lnTo>
                  <a:pt x="3270402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15"/>
          <p:cNvSpPr/>
          <p:nvPr/>
        </p:nvSpPr>
        <p:spPr>
          <a:xfrm>
            <a:off x="4779818" y="4493047"/>
            <a:ext cx="1542230" cy="1727254"/>
          </a:xfrm>
          <a:custGeom>
            <a:rect b="b" l="l" r="r" t="t"/>
            <a:pathLst>
              <a:path extrusionOk="0" h="1727254" w="1542230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 txBox="1"/>
          <p:nvPr/>
        </p:nvSpPr>
        <p:spPr>
          <a:xfrm>
            <a:off x="4531844" y="6426642"/>
            <a:ext cx="197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EXPLIQUER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4998574" y="6854356"/>
            <a:ext cx="1104718" cy="437279"/>
          </a:xfrm>
          <a:custGeom>
            <a:rect b="b" l="l" r="r" t="t"/>
            <a:pathLst>
              <a:path extrusionOk="0"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15"/>
          <p:cNvSpPr txBox="1"/>
          <p:nvPr/>
        </p:nvSpPr>
        <p:spPr>
          <a:xfrm>
            <a:off x="4405034" y="7329174"/>
            <a:ext cx="2226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rendre les risques compréhensibles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7175196" y="4066699"/>
            <a:ext cx="3281340" cy="4514911"/>
          </a:xfrm>
          <a:custGeom>
            <a:rect b="b" l="l" r="r" t="t"/>
            <a:pathLst>
              <a:path extrusionOk="0" h="4514911" w="3281340">
                <a:moveTo>
                  <a:pt x="0" y="0"/>
                </a:moveTo>
                <a:lnTo>
                  <a:pt x="3281340" y="0"/>
                </a:lnTo>
                <a:lnTo>
                  <a:pt x="3281340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15"/>
          <p:cNvSpPr/>
          <p:nvPr/>
        </p:nvSpPr>
        <p:spPr>
          <a:xfrm>
            <a:off x="8268976" y="4493047"/>
            <a:ext cx="1312536" cy="1727254"/>
          </a:xfrm>
          <a:custGeom>
            <a:rect b="b" l="l" r="r" t="t"/>
            <a:pathLst>
              <a:path extrusionOk="0" h="1727254" w="1312536">
                <a:moveTo>
                  <a:pt x="0" y="0"/>
                </a:moveTo>
                <a:lnTo>
                  <a:pt x="1312536" y="0"/>
                </a:lnTo>
                <a:lnTo>
                  <a:pt x="131253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15"/>
          <p:cNvSpPr txBox="1"/>
          <p:nvPr/>
        </p:nvSpPr>
        <p:spPr>
          <a:xfrm>
            <a:off x="7904007" y="6426642"/>
            <a:ext cx="189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PROTÉGER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8268976" y="6854356"/>
            <a:ext cx="1093780" cy="437279"/>
          </a:xfrm>
          <a:custGeom>
            <a:rect b="b" l="l" r="r" t="t"/>
            <a:pathLst>
              <a:path extrusionOk="0" h="437279" w="1093780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5"/>
          <p:cNvSpPr txBox="1"/>
          <p:nvPr/>
        </p:nvSpPr>
        <p:spPr>
          <a:xfrm>
            <a:off x="7645126" y="7329124"/>
            <a:ext cx="24135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88"/>
              <a:buFont typeface="Inter"/>
              <a:buNone/>
            </a:pPr>
            <a:r>
              <a:rPr b="0" i="0" lang="en-US" sz="2088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aider à prendre de meilleures décisions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0664354" y="1071335"/>
            <a:ext cx="6759560" cy="6220301"/>
          </a:xfrm>
          <a:custGeom>
            <a:rect b="b" l="l" r="r" t="t"/>
            <a:pathLst>
              <a:path extrusionOk="0" h="6220301" w="6759560">
                <a:moveTo>
                  <a:pt x="0" y="0"/>
                </a:moveTo>
                <a:lnTo>
                  <a:pt x="6759560" y="0"/>
                </a:lnTo>
                <a:lnTo>
                  <a:pt x="6759560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15"/>
          <p:cNvSpPr txBox="1"/>
          <p:nvPr/>
        </p:nvSpPr>
        <p:spPr>
          <a:xfrm>
            <a:off x="11332219" y="7948097"/>
            <a:ext cx="53133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Montserrat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Sahel</a:t>
            </a:r>
            <a:r>
              <a:rPr b="1" i="0" lang="en-US" sz="7200" u="none" cap="none" strike="noStrike">
                <a:solidFill>
                  <a:srgbClr val="55AD20"/>
                </a:solidFill>
                <a:latin typeface="Montserrat"/>
                <a:ea typeface="Montserrat"/>
                <a:cs typeface="Montserrat"/>
                <a:sym typeface="Montserrat"/>
              </a:rPr>
              <a:t>Sec</a:t>
            </a:r>
            <a:endParaRPr b="1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1320622" y="9204733"/>
            <a:ext cx="656268" cy="229572"/>
          </a:xfrm>
          <a:custGeom>
            <a:rect b="b" l="l" r="r" t="t"/>
            <a:pathLst>
              <a:path extrusionOk="0" h="229572" w="656268">
                <a:moveTo>
                  <a:pt x="0" y="0"/>
                </a:moveTo>
                <a:lnTo>
                  <a:pt x="656268" y="0"/>
                </a:lnTo>
                <a:lnTo>
                  <a:pt x="65626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15"/>
          <p:cNvSpPr/>
          <p:nvPr/>
        </p:nvSpPr>
        <p:spPr>
          <a:xfrm>
            <a:off x="16100440" y="9204733"/>
            <a:ext cx="667206" cy="229572"/>
          </a:xfrm>
          <a:custGeom>
            <a:rect b="b" l="l" r="r" t="t"/>
            <a:pathLst>
              <a:path extrusionOk="0" h="229572" w="667206">
                <a:moveTo>
                  <a:pt x="0" y="0"/>
                </a:moveTo>
                <a:lnTo>
                  <a:pt x="667206" y="0"/>
                </a:lnTo>
                <a:lnTo>
                  <a:pt x="667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5"/>
          <p:cNvSpPr txBox="1"/>
          <p:nvPr/>
        </p:nvSpPr>
        <p:spPr>
          <a:xfrm>
            <a:off x="4668059" y="8902365"/>
            <a:ext cx="4681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Inter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français, bambara, lecture vocale.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713937" y="8902365"/>
            <a:ext cx="36156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37"/>
              </a:lnSpc>
              <a:spcBef>
                <a:spcPts val="0"/>
              </a:spcBef>
              <a:spcAft>
                <a:spcPts val="0"/>
              </a:spcAft>
              <a:buClr>
                <a:srgbClr val="09A6D8"/>
              </a:buClr>
              <a:buSzPts val="2436"/>
              <a:buFont typeface="Inter SemiBold"/>
              <a:buNone/>
            </a:pPr>
            <a:r>
              <a:rPr b="1" i="0" lang="en-US" sz="2436" u="none" cap="none" strike="noStrike">
                <a:solidFill>
                  <a:srgbClr val="09A6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Orientations envisagées 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11879225" y="9203541"/>
            <a:ext cx="4190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16"/>
              </a:lnSpc>
              <a:spcBef>
                <a:spcPts val="0"/>
              </a:spcBef>
              <a:spcAft>
                <a:spcPts val="0"/>
              </a:spcAft>
              <a:buClr>
                <a:srgbClr val="55AD20"/>
              </a:buClr>
              <a:buSzPts val="1800"/>
              <a:buFont typeface="Inter Medium"/>
              <a:buNone/>
            </a:pPr>
            <a:r>
              <a:rPr b="1" i="0" lang="en-US" sz="1800" u="none" cap="none" strike="noStrike">
                <a:solidFill>
                  <a:srgbClr val="55AD20"/>
                </a:solidFill>
                <a:latin typeface="Inter Medium"/>
                <a:ea typeface="Inter Medium"/>
                <a:cs typeface="Inter Medium"/>
                <a:sym typeface="Inter Medium"/>
              </a:rPr>
              <a:t>La sécurité numérique à la portée de tous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 flipH="1" rot="451">
            <a:off x="0" y="300236"/>
            <a:ext cx="182880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 Fonctionnalités </a:t>
            </a:r>
            <a:endParaRPr b="0" i="0" sz="7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0" name="Google Shape;1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9607" y="0"/>
            <a:ext cx="9219550" cy="1028697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0" y="0"/>
            <a:ext cx="92196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Notre Modèle Economique</a:t>
            </a:r>
            <a:endParaRPr b="0" i="0" sz="6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Basée sur deux Formules:</a:t>
            </a:r>
            <a:endParaRPr b="0" i="0" sz="6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0" i="0" sz="6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—O</a:t>
            </a:r>
            <a:r>
              <a:rPr b="0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ption Gratuite (Limitée)</a:t>
            </a:r>
            <a:endParaRPr b="0" i="0" sz="4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—O</a:t>
            </a:r>
            <a:r>
              <a:rPr b="0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ption Premium (Illimitée)​</a:t>
            </a:r>
            <a:endParaRPr b="0" i="0" sz="4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484600"/>
            <a:ext cx="6640950" cy="480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17"/>
          <p:cNvSpPr/>
          <p:nvPr/>
        </p:nvSpPr>
        <p:spPr>
          <a:xfrm>
            <a:off x="15673866" y="852695"/>
            <a:ext cx="2406316" cy="2798589"/>
          </a:xfrm>
          <a:custGeom>
            <a:rect b="b" l="l" r="r" t="t"/>
            <a:pathLst>
              <a:path extrusionOk="0" h="2798589" w="2406316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7"/>
          <p:cNvSpPr/>
          <p:nvPr/>
        </p:nvSpPr>
        <p:spPr>
          <a:xfrm>
            <a:off x="16100440" y="4066699"/>
            <a:ext cx="1979742" cy="1727254"/>
          </a:xfrm>
          <a:custGeom>
            <a:rect b="b" l="l" r="r" t="t"/>
            <a:pathLst>
              <a:path extrusionOk="0" h="1727254" w="1979742">
                <a:moveTo>
                  <a:pt x="0" y="0"/>
                </a:moveTo>
                <a:lnTo>
                  <a:pt x="1979742" y="0"/>
                </a:lnTo>
                <a:lnTo>
                  <a:pt x="197974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17"/>
          <p:cNvSpPr/>
          <p:nvPr/>
        </p:nvSpPr>
        <p:spPr>
          <a:xfrm>
            <a:off x="15236354" y="5783021"/>
            <a:ext cx="2843828" cy="1727254"/>
          </a:xfrm>
          <a:custGeom>
            <a:rect b="b" l="l" r="r" t="t"/>
            <a:pathLst>
              <a:path extrusionOk="0" h="1727254" w="2843828">
                <a:moveTo>
                  <a:pt x="0" y="0"/>
                </a:moveTo>
                <a:lnTo>
                  <a:pt x="2843828" y="0"/>
                </a:lnTo>
                <a:lnTo>
                  <a:pt x="2843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7"/>
          <p:cNvSpPr/>
          <p:nvPr/>
        </p:nvSpPr>
        <p:spPr>
          <a:xfrm>
            <a:off x="3259464" y="7925691"/>
            <a:ext cx="3281340" cy="1934962"/>
          </a:xfrm>
          <a:custGeom>
            <a:rect b="b" l="l" r="r" t="t"/>
            <a:pathLst>
              <a:path extrusionOk="0" h="1934962" w="3281340">
                <a:moveTo>
                  <a:pt x="0" y="0"/>
                </a:moveTo>
                <a:lnTo>
                  <a:pt x="3281340" y="0"/>
                </a:lnTo>
                <a:lnTo>
                  <a:pt x="328134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7"/>
          <p:cNvSpPr/>
          <p:nvPr/>
        </p:nvSpPr>
        <p:spPr>
          <a:xfrm>
            <a:off x="10883093" y="852710"/>
            <a:ext cx="7197072" cy="6438940"/>
          </a:xfrm>
          <a:custGeom>
            <a:rect b="b" l="l" r="r" t="t"/>
            <a:pathLst>
              <a:path extrusionOk="0" h="6438940" w="7197072">
                <a:moveTo>
                  <a:pt x="0" y="0"/>
                </a:moveTo>
                <a:lnTo>
                  <a:pt x="7197072" y="0"/>
                </a:lnTo>
                <a:lnTo>
                  <a:pt x="7197072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7"/>
          <p:cNvSpPr txBox="1"/>
          <p:nvPr/>
        </p:nvSpPr>
        <p:spPr>
          <a:xfrm>
            <a:off x="11545506" y="6389738"/>
            <a:ext cx="77256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F9F9F9"/>
                </a:solidFill>
                <a:latin typeface="Montserrat"/>
                <a:ea typeface="Montserrat"/>
                <a:cs typeface="Montserrat"/>
                <a:sym typeface="Montserrat"/>
              </a:rPr>
              <a:t>Sahel</a:t>
            </a:r>
            <a:r>
              <a:rPr b="1" i="0" lang="en-US" sz="9600" u="none" cap="none" strike="noStrike">
                <a:solidFill>
                  <a:srgbClr val="57A818"/>
                </a:solidFill>
                <a:latin typeface="Montserrat"/>
                <a:ea typeface="Montserrat"/>
                <a:cs typeface="Montserrat"/>
                <a:sym typeface="Montserrat"/>
              </a:rPr>
              <a:t>Sec</a:t>
            </a:r>
            <a:endParaRPr b="1" i="0" sz="9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 flipH="1" rot="537">
            <a:off x="11787595" y="7510727"/>
            <a:ext cx="57594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57A81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sécurité numérique à la portée de tous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0" y="6"/>
            <a:ext cx="117876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Notre Equipe SahelSec </a:t>
            </a:r>
            <a:endParaRPr b="0" i="0" sz="7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10351" y="1659800"/>
            <a:ext cx="9123300" cy="16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Kadidiatou Hélène Guindo &amp; Zeinabou Fanta Dembélé </a:t>
            </a:r>
            <a:endParaRPr b="0" i="0" sz="4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0" y="7689725"/>
            <a:ext cx="6246300" cy="24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Contacts :</a:t>
            </a:r>
            <a:endParaRPr b="0" i="0" sz="4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+223 60 70 52 54</a:t>
            </a:r>
            <a:endParaRPr b="0" i="0" sz="4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+223 83 90 07 02</a:t>
            </a:r>
            <a:endParaRPr b="0" i="0" sz="4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10350" y="4030225"/>
            <a:ext cx="10624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1" lang="en-US" sz="60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DE VOTRE ATTENTION !!! </a:t>
            </a:r>
            <a:endParaRPr b="1" i="1" sz="6000" u="sng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